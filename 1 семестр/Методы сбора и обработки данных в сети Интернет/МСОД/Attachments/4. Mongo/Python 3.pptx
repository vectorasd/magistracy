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j+5Mb/8Po52O+sCvTvR6c3BFEK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1C5158B-CFA8-4B73-A3B6-FAD4E4842F1B}">
  <a:tblStyle styleId="{D1C5158B-CFA8-4B73-A3B6-FAD4E4842F1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93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8" name="Google Shape;39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6" name="Google Shape;46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0" name="Google Shape;50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4" name="Google Shape;53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8" name="Google Shape;56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2" name="Google Shape;60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6" name="Google Shape;63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0" name="Google Shape;67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3" name="Google Shape;70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7" name="Google Shape;73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1" name="Google Shape;77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4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DF4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3429300" y="1714500"/>
            <a:ext cx="51387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4000">
                <a:solidFill>
                  <a:srgbClr val="4C5D6E"/>
                </a:solidFill>
              </a:rPr>
              <a:t>СУБД MongoDB</a:t>
            </a:r>
            <a:endParaRPr sz="4000">
              <a:solidFill>
                <a:srgbClr val="4C5D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xfrm>
            <a:off x="3429325" y="3428950"/>
            <a:ext cx="4567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rgbClr val="ABB1B9"/>
                </a:solidFill>
              </a:rPr>
              <a:t>Краткий обзор технологий для понимания сбора и обработки данных</a:t>
            </a:r>
            <a:endParaRPr sz="1600">
              <a:solidFill>
                <a:srgbClr val="BDC2CA"/>
              </a:solidFill>
            </a:endParaRPr>
          </a:p>
        </p:txBody>
      </p:sp>
      <p:sp>
        <p:nvSpPr>
          <p:cNvPr id="57" name="Google Shape;57;p1"/>
          <p:cNvSpPr txBox="1">
            <a:spLocks noGrp="1"/>
          </p:cNvSpPr>
          <p:nvPr>
            <p:ph type="ctrTitle"/>
          </p:nvPr>
        </p:nvSpPr>
        <p:spPr>
          <a:xfrm>
            <a:off x="3429300" y="571450"/>
            <a:ext cx="456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1600">
                <a:solidFill>
                  <a:srgbClr val="BDC2CA"/>
                </a:solidFill>
              </a:rPr>
              <a:t>Методы сбора и обработки данных при помощи Python</a:t>
            </a:r>
            <a:endParaRPr sz="1600">
              <a:solidFill>
                <a:srgbClr val="BDC2CA"/>
              </a:solidFill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-799801" y="1714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-799801" y="22860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-799801" y="2857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-799801" y="34290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-799801" y="40005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-799801" y="4572009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-799801" y="11430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-799801" y="5715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-799801" y="-12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2399" y="-800200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573599" y="-800200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"/>
          <p:cNvSpPr/>
          <p:nvPr/>
        </p:nvSpPr>
        <p:spPr>
          <a:xfrm>
            <a:off x="1144799" y="-80020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"/>
          <p:cNvSpPr/>
          <p:nvPr/>
        </p:nvSpPr>
        <p:spPr>
          <a:xfrm>
            <a:off x="1715999" y="-80020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/>
          <p:nvPr/>
        </p:nvSpPr>
        <p:spPr>
          <a:xfrm>
            <a:off x="2287199" y="-80020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"/>
          <p:cNvSpPr/>
          <p:nvPr/>
        </p:nvSpPr>
        <p:spPr>
          <a:xfrm>
            <a:off x="2858399" y="-80020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3429599" y="-80020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"/>
          <p:cNvSpPr/>
          <p:nvPr/>
        </p:nvSpPr>
        <p:spPr>
          <a:xfrm>
            <a:off x="4000799" y="-80020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4571999" y="-80020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"/>
          <p:cNvSpPr/>
          <p:nvPr/>
        </p:nvSpPr>
        <p:spPr>
          <a:xfrm>
            <a:off x="5143199" y="-80020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"/>
          <p:cNvSpPr/>
          <p:nvPr/>
        </p:nvSpPr>
        <p:spPr>
          <a:xfrm>
            <a:off x="5714399" y="-80020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"/>
          <p:cNvSpPr/>
          <p:nvPr/>
        </p:nvSpPr>
        <p:spPr>
          <a:xfrm>
            <a:off x="6285599" y="-80020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"/>
          <p:cNvSpPr/>
          <p:nvPr/>
        </p:nvSpPr>
        <p:spPr>
          <a:xfrm>
            <a:off x="6856798" y="-80020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"/>
          <p:cNvSpPr/>
          <p:nvPr/>
        </p:nvSpPr>
        <p:spPr>
          <a:xfrm>
            <a:off x="7427998" y="-80020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"/>
          <p:cNvSpPr/>
          <p:nvPr/>
        </p:nvSpPr>
        <p:spPr>
          <a:xfrm>
            <a:off x="7999198" y="-800200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"/>
          <p:cNvSpPr/>
          <p:nvPr/>
        </p:nvSpPr>
        <p:spPr>
          <a:xfrm>
            <a:off x="8570398" y="-800200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 txBox="1">
            <a:spLocks noGrp="1"/>
          </p:cNvSpPr>
          <p:nvPr>
            <p:ph type="ctrTitle"/>
          </p:nvPr>
        </p:nvSpPr>
        <p:spPr>
          <a:xfrm>
            <a:off x="3427200" y="1143000"/>
            <a:ext cx="456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2000" b="1">
                <a:solidFill>
                  <a:srgbClr val="4C5D6E"/>
                </a:solidFill>
              </a:rPr>
              <a:t>Урок 3</a:t>
            </a:r>
            <a:endParaRPr sz="2000" b="1">
              <a:solidFill>
                <a:srgbClr val="4C5D6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>
            <a:spLocks noGrp="1"/>
          </p:cNvSpPr>
          <p:nvPr>
            <p:ph type="ctrTitle"/>
          </p:nvPr>
        </p:nvSpPr>
        <p:spPr>
          <a:xfrm>
            <a:off x="1142400" y="57150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3200">
                <a:solidFill>
                  <a:srgbClr val="4C5D6E"/>
                </a:solidFill>
              </a:rPr>
              <a:t>План урока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89" name="Google Shape;89;p2"/>
          <p:cNvSpPr txBox="1">
            <a:spLocks noGrp="1"/>
          </p:cNvSpPr>
          <p:nvPr>
            <p:ph type="ctrTitle"/>
          </p:nvPr>
        </p:nvSpPr>
        <p:spPr>
          <a:xfrm>
            <a:off x="1086850" y="1384675"/>
            <a:ext cx="6854400" cy="31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1600"/>
              <a:buAutoNum type="arabicPeriod"/>
            </a:pPr>
            <a:r>
              <a:rPr lang="ru" sz="1600">
                <a:solidFill>
                  <a:srgbClr val="2C2D30"/>
                </a:solidFill>
              </a:rPr>
              <a:t>SQL и NoSQL.</a:t>
            </a:r>
            <a:endParaRPr sz="1600">
              <a:solidFill>
                <a:srgbClr val="2C2D3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1600"/>
              <a:buAutoNum type="arabicPeriod"/>
            </a:pPr>
            <a:r>
              <a:rPr lang="ru" sz="1600">
                <a:solidFill>
                  <a:srgbClr val="2C2D30"/>
                </a:solidFill>
              </a:rPr>
              <a:t>Что такое MongoDB и почему именно она.</a:t>
            </a:r>
            <a:endParaRPr sz="1600">
              <a:solidFill>
                <a:srgbClr val="2C2D3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1600"/>
              <a:buAutoNum type="arabicPeriod"/>
            </a:pPr>
            <a:r>
              <a:rPr lang="ru" sz="1600">
                <a:solidFill>
                  <a:srgbClr val="2C2D30"/>
                </a:solidFill>
              </a:rPr>
              <a:t>Структуру данных в MongoDB.</a:t>
            </a:r>
            <a:endParaRPr sz="1600">
              <a:solidFill>
                <a:srgbClr val="2C2D3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1600"/>
              <a:buAutoNum type="arabicPeriod"/>
            </a:pPr>
            <a:r>
              <a:rPr lang="ru" sz="1600">
                <a:solidFill>
                  <a:srgbClr val="2C2D30"/>
                </a:solidFill>
              </a:rPr>
              <a:t>Установка MongoDB на примере Windows 10.</a:t>
            </a:r>
            <a:endParaRPr sz="1600">
              <a:solidFill>
                <a:srgbClr val="2C2D3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1600"/>
              <a:buAutoNum type="arabicPeriod"/>
            </a:pPr>
            <a:r>
              <a:rPr lang="ru" sz="1600">
                <a:solidFill>
                  <a:srgbClr val="2C2D30"/>
                </a:solidFill>
              </a:rPr>
              <a:t>Работа с MongoDB из консоли.</a:t>
            </a:r>
            <a:endParaRPr sz="1600">
              <a:solidFill>
                <a:srgbClr val="2C2D3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1600"/>
              <a:buAutoNum type="arabicPeriod"/>
            </a:pPr>
            <a:r>
              <a:rPr lang="ru" sz="1600">
                <a:solidFill>
                  <a:srgbClr val="2C2D30"/>
                </a:solidFill>
              </a:rPr>
              <a:t>Работа с MongoDB в Python.</a:t>
            </a:r>
            <a:endParaRPr sz="1600">
              <a:solidFill>
                <a:srgbClr val="2C2D30"/>
              </a:solidFill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-799801" y="1714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-799801" y="22860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-799801" y="2857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-799801" y="34290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-799801" y="40005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-799801" y="4572009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-799801" y="11430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-799801" y="5715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-799801" y="-12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23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5735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1144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1715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2287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2858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3429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000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4571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5143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5714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6285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68567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74279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79991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85703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571173" y="4572011"/>
            <a:ext cx="571200" cy="5715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571175" y="0"/>
            <a:ext cx="571200" cy="1902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>
            <a:spLocks noGrp="1"/>
          </p:cNvSpPr>
          <p:nvPr>
            <p:ph type="ctrTitle"/>
          </p:nvPr>
        </p:nvSpPr>
        <p:spPr>
          <a:xfrm>
            <a:off x="1144800" y="20002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3200">
                <a:solidFill>
                  <a:srgbClr val="4C5D6E"/>
                </a:solidFill>
              </a:rPr>
              <a:t>SQL и NoSQL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-799801" y="1714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-799801" y="22860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-799801" y="2857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-799801" y="34290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-799801" y="40005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-799801" y="4572009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-799801" y="11430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-799801" y="5715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-799801" y="-12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23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5735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1144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1715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2287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2858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3429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4000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4571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5143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5714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6285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68567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74279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79991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85703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571173" y="4572011"/>
            <a:ext cx="571200" cy="5715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571175" y="0"/>
            <a:ext cx="571200" cy="1902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"/>
          <p:cNvSpPr txBox="1">
            <a:spLocks noGrp="1"/>
          </p:cNvSpPr>
          <p:nvPr>
            <p:ph type="ctrTitle"/>
          </p:nvPr>
        </p:nvSpPr>
        <p:spPr>
          <a:xfrm>
            <a:off x="1144800" y="19020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3200">
                <a:solidFill>
                  <a:srgbClr val="4C5D6E"/>
                </a:solidFill>
              </a:rPr>
              <a:t>SQL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-799801" y="1714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-799801" y="22860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-799801" y="2857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-799801" y="34290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-799801" y="40005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-799801" y="4572009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-799801" y="11430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-799801" y="5715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-799801" y="-12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23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5735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1144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1715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2287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2858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3429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4000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4571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5143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5714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6285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68567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74279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79991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85703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571173" y="4572011"/>
            <a:ext cx="571200" cy="5715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571175" y="0"/>
            <a:ext cx="571200" cy="1902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1039634" y="1314906"/>
            <a:ext cx="6815700" cy="25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3000"/>
              <a:buFont typeface="Arial"/>
              <a:buChar char="●"/>
            </a:pPr>
            <a:r>
              <a:rPr lang="ru" sz="30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 sz="30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3000"/>
              <a:buFont typeface="Arial"/>
              <a:buChar char="●"/>
            </a:pPr>
            <a:r>
              <a:rPr lang="ru" sz="30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T-SQL</a:t>
            </a:r>
            <a:endParaRPr sz="30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3000"/>
              <a:buFont typeface="Arial"/>
              <a:buChar char="●"/>
            </a:pPr>
            <a:r>
              <a:rPr lang="ru" sz="30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PL/SQL</a:t>
            </a:r>
            <a:endParaRPr sz="30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3000"/>
              <a:buFont typeface="Arial"/>
              <a:buChar char="●"/>
            </a:pPr>
            <a:r>
              <a:rPr lang="ru" sz="30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SQL PL</a:t>
            </a:r>
            <a:endParaRPr sz="30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"/>
          <p:cNvSpPr txBox="1">
            <a:spLocks noGrp="1"/>
          </p:cNvSpPr>
          <p:nvPr>
            <p:ph type="ctrTitle"/>
          </p:nvPr>
        </p:nvSpPr>
        <p:spPr>
          <a:xfrm>
            <a:off x="1144800" y="19020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3200">
                <a:solidFill>
                  <a:srgbClr val="4C5D6E"/>
                </a:solidFill>
              </a:rPr>
              <a:t>SQL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-799801" y="1714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-799801" y="22860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-799801" y="2857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-799801" y="34290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-799801" y="40005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-799801" y="4572009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-799801" y="11430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-799801" y="5715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-799801" y="-12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23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5735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1144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1715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2287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2858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3429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4000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4571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5143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5714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6285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8567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74279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79991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85703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571173" y="4572011"/>
            <a:ext cx="571200" cy="5715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571175" y="0"/>
            <a:ext cx="571200" cy="1902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"/>
          <p:cNvSpPr txBox="1"/>
          <p:nvPr/>
        </p:nvSpPr>
        <p:spPr>
          <a:xfrm>
            <a:off x="1142375" y="1295550"/>
            <a:ext cx="6815700" cy="2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3000"/>
              <a:buFont typeface="Arial"/>
              <a:buChar char="●"/>
            </a:pPr>
            <a:r>
              <a:rPr lang="ru" sz="30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OLTP</a:t>
            </a:r>
            <a:endParaRPr sz="30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3000"/>
              <a:buFont typeface="Arial"/>
              <a:buChar char="●"/>
            </a:pPr>
            <a:r>
              <a:rPr lang="ru" sz="30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OLAP</a:t>
            </a:r>
            <a:endParaRPr sz="30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"/>
          <p:cNvSpPr txBox="1">
            <a:spLocks noGrp="1"/>
          </p:cNvSpPr>
          <p:nvPr>
            <p:ph type="ctrTitle"/>
          </p:nvPr>
        </p:nvSpPr>
        <p:spPr>
          <a:xfrm>
            <a:off x="1144800" y="19020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3200">
                <a:solidFill>
                  <a:srgbClr val="4C5D6E"/>
                </a:solidFill>
              </a:rPr>
              <a:t>SQL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-799801" y="1714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-799801" y="22860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-799801" y="2857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-799801" y="34290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-799801" y="40005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-799801" y="4572009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-799801" y="11430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-799801" y="5715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-799801" y="-12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23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735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1144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1715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2287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2858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3429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4000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4571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5143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5714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6285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68567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74279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79991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85703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571173" y="4572011"/>
            <a:ext cx="571200" cy="5715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6" descr="loading-logo.png"/>
          <p:cNvPicPr preferRelativeResize="0"/>
          <p:nvPr/>
        </p:nvPicPr>
        <p:blipFill rotWithShape="1">
          <a:blip r:embed="rId3">
            <a:alphaModFix/>
          </a:blip>
          <a:srcRect l="-19008" t="-14482" r="-19036" b="-14481"/>
          <a:stretch/>
        </p:blipFill>
        <p:spPr>
          <a:xfrm>
            <a:off x="571175" y="4572000"/>
            <a:ext cx="5712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6"/>
          <p:cNvSpPr/>
          <p:nvPr/>
        </p:nvSpPr>
        <p:spPr>
          <a:xfrm>
            <a:off x="571175" y="0"/>
            <a:ext cx="571200" cy="1902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6"/>
          <p:cNvSpPr txBox="1"/>
          <p:nvPr/>
        </p:nvSpPr>
        <p:spPr>
          <a:xfrm>
            <a:off x="1142375" y="1295550"/>
            <a:ext cx="6815700" cy="2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2400"/>
              <a:buFont typeface="Arial"/>
              <a:buChar char="●"/>
            </a:pPr>
            <a:r>
              <a:rPr lang="ru" sz="24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Atomicity – атомарность;</a:t>
            </a:r>
            <a:endParaRPr sz="24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2400"/>
              <a:buFont typeface="Arial"/>
              <a:buChar char="●"/>
            </a:pPr>
            <a:r>
              <a:rPr lang="ru" sz="24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Consistency – согласованность;</a:t>
            </a:r>
            <a:endParaRPr sz="24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2400"/>
              <a:buFont typeface="Arial"/>
              <a:buChar char="●"/>
            </a:pPr>
            <a:r>
              <a:rPr lang="ru" sz="24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Isolation – изолированность;</a:t>
            </a:r>
            <a:endParaRPr sz="24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2400"/>
              <a:buFont typeface="Arial"/>
              <a:buChar char="●"/>
            </a:pPr>
            <a:r>
              <a:rPr lang="ru" sz="24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Durability – устойчивость.</a:t>
            </a:r>
            <a:endParaRPr sz="24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"/>
          <p:cNvSpPr txBox="1">
            <a:spLocks noGrp="1"/>
          </p:cNvSpPr>
          <p:nvPr>
            <p:ph type="ctrTitle"/>
          </p:nvPr>
        </p:nvSpPr>
        <p:spPr>
          <a:xfrm>
            <a:off x="1144800" y="19020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3200">
                <a:solidFill>
                  <a:srgbClr val="4C5D6E"/>
                </a:solidFill>
              </a:rPr>
              <a:t>NoSQL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-799801" y="1714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-799801" y="22860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-799801" y="2857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-799801" y="34290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-799801" y="40005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-799801" y="4572009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-799801" y="11430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-799801" y="5715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-799801" y="-12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23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5735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1144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1715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2287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2858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3429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4000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4571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5143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5714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6285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68567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74279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79991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85703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571173" y="4572011"/>
            <a:ext cx="571200" cy="5715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7" descr="loading-logo.png"/>
          <p:cNvPicPr preferRelativeResize="0"/>
          <p:nvPr/>
        </p:nvPicPr>
        <p:blipFill rotWithShape="1">
          <a:blip r:embed="rId3">
            <a:alphaModFix/>
          </a:blip>
          <a:srcRect l="-19008" t="-14482" r="-19036" b="-14481"/>
          <a:stretch/>
        </p:blipFill>
        <p:spPr>
          <a:xfrm>
            <a:off x="571175" y="4572000"/>
            <a:ext cx="5712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7"/>
          <p:cNvSpPr/>
          <p:nvPr/>
        </p:nvSpPr>
        <p:spPr>
          <a:xfrm>
            <a:off x="571175" y="0"/>
            <a:ext cx="571200" cy="1902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"/>
          <p:cNvSpPr txBox="1"/>
          <p:nvPr/>
        </p:nvSpPr>
        <p:spPr>
          <a:xfrm>
            <a:off x="1142375" y="1295550"/>
            <a:ext cx="6815700" cy="2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2400"/>
              <a:buFont typeface="Arial"/>
              <a:buChar char="●"/>
            </a:pPr>
            <a:r>
              <a:rPr lang="ru" sz="24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Ключ-значение (Redis, Berkeley DB).</a:t>
            </a:r>
            <a:endParaRPr sz="24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ru" sz="24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Документоориентированные (MongoDB, CouchDB).</a:t>
            </a:r>
            <a:endParaRPr sz="24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2400"/>
              <a:buFont typeface="Arial"/>
              <a:buChar char="●"/>
            </a:pPr>
            <a:r>
              <a:rPr lang="ru" sz="24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Графовые (Giraph, Neo4j).</a:t>
            </a:r>
            <a:endParaRPr sz="24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2400"/>
              <a:buFont typeface="Arial"/>
              <a:buChar char="●"/>
            </a:pPr>
            <a:r>
              <a:rPr lang="ru" sz="24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BigTable (HBase, Cassandra).</a:t>
            </a:r>
            <a:endParaRPr sz="24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"/>
          <p:cNvSpPr txBox="1">
            <a:spLocks noGrp="1"/>
          </p:cNvSpPr>
          <p:nvPr>
            <p:ph type="ctrTitle"/>
          </p:nvPr>
        </p:nvSpPr>
        <p:spPr>
          <a:xfrm>
            <a:off x="1142373" y="-233684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3200">
                <a:solidFill>
                  <a:srgbClr val="4C5D6E"/>
                </a:solidFill>
              </a:rPr>
              <a:t>NoSQL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-799801" y="1714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-799801" y="22860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-799801" y="2857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-799801" y="34290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-799801" y="40005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-799801" y="4572009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-799801" y="11430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-799801" y="5715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-799801" y="-12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23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5735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1144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1715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2287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2858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3429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4000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4571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5143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5714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6285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68567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74279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79991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85703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571173" y="4572011"/>
            <a:ext cx="571200" cy="5715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8" descr="loading-logo.png"/>
          <p:cNvPicPr preferRelativeResize="0"/>
          <p:nvPr/>
        </p:nvPicPr>
        <p:blipFill rotWithShape="1">
          <a:blip r:embed="rId3">
            <a:alphaModFix/>
          </a:blip>
          <a:srcRect l="-19008" t="-14482" r="-19036" b="-14481"/>
          <a:stretch/>
        </p:blipFill>
        <p:spPr>
          <a:xfrm>
            <a:off x="571175" y="4572000"/>
            <a:ext cx="5712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8"/>
          <p:cNvSpPr/>
          <p:nvPr/>
        </p:nvSpPr>
        <p:spPr>
          <a:xfrm>
            <a:off x="571175" y="0"/>
            <a:ext cx="571200" cy="1902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8"/>
          <p:cNvSpPr txBox="1"/>
          <p:nvPr/>
        </p:nvSpPr>
        <p:spPr>
          <a:xfrm>
            <a:off x="1142375" y="1295550"/>
            <a:ext cx="6815700" cy="2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1" name="Google Shape;32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95913" y="69435"/>
            <a:ext cx="6490738" cy="689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95913" y="508747"/>
            <a:ext cx="6490744" cy="4552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9"/>
          <p:cNvSpPr txBox="1">
            <a:spLocks noGrp="1"/>
          </p:cNvSpPr>
          <p:nvPr>
            <p:ph type="ctrTitle"/>
          </p:nvPr>
        </p:nvSpPr>
        <p:spPr>
          <a:xfrm>
            <a:off x="1142373" y="-233684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3200">
                <a:solidFill>
                  <a:srgbClr val="4C5D6E"/>
                </a:solidFill>
              </a:rPr>
              <a:t>SQL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-799801" y="1714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-799801" y="22860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-799801" y="2857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-799801" y="34290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-799801" y="40005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-799801" y="4572009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-799801" y="11430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-799801" y="5715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-799801" y="-12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23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5735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1144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1715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2287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2858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3429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4000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4571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5143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5714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6285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68567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74279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79991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85703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571173" y="4572011"/>
            <a:ext cx="571200" cy="5715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4" name="Google Shape;354;p9" descr="loading-logo.png"/>
          <p:cNvPicPr preferRelativeResize="0"/>
          <p:nvPr/>
        </p:nvPicPr>
        <p:blipFill rotWithShape="1">
          <a:blip r:embed="rId3">
            <a:alphaModFix/>
          </a:blip>
          <a:srcRect l="-19008" t="-14482" r="-19036" b="-14481"/>
          <a:stretch/>
        </p:blipFill>
        <p:spPr>
          <a:xfrm>
            <a:off x="571175" y="4572000"/>
            <a:ext cx="5712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9"/>
          <p:cNvSpPr/>
          <p:nvPr/>
        </p:nvSpPr>
        <p:spPr>
          <a:xfrm>
            <a:off x="571175" y="0"/>
            <a:ext cx="571200" cy="1902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9"/>
          <p:cNvSpPr txBox="1"/>
          <p:nvPr/>
        </p:nvSpPr>
        <p:spPr>
          <a:xfrm>
            <a:off x="1142375" y="1295550"/>
            <a:ext cx="6815700" cy="2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7" name="Google Shape;35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68578" y="0"/>
            <a:ext cx="5259419" cy="4579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0"/>
          <p:cNvSpPr txBox="1">
            <a:spLocks noGrp="1"/>
          </p:cNvSpPr>
          <p:nvPr>
            <p:ph type="ctrTitle"/>
          </p:nvPr>
        </p:nvSpPr>
        <p:spPr>
          <a:xfrm>
            <a:off x="1142373" y="-233684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3200">
                <a:solidFill>
                  <a:srgbClr val="4C5D6E"/>
                </a:solidFill>
              </a:rPr>
              <a:t>Примеры запросов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-799801" y="1714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-799801" y="22860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-799801" y="2857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-799801" y="34290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-799801" y="40005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-799801" y="4572009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-799801" y="11430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-799801" y="5715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-799801" y="-12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23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5735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1144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1715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2287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2858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3429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4000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4571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5143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5714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6285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68567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74279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79991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85703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571173" y="4572011"/>
            <a:ext cx="571200" cy="5715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Google Shape;389;p10" descr="loading-logo.png"/>
          <p:cNvPicPr preferRelativeResize="0"/>
          <p:nvPr/>
        </p:nvPicPr>
        <p:blipFill rotWithShape="1">
          <a:blip r:embed="rId3">
            <a:alphaModFix/>
          </a:blip>
          <a:srcRect l="-19008" t="-14482" r="-19036" b="-14481"/>
          <a:stretch/>
        </p:blipFill>
        <p:spPr>
          <a:xfrm>
            <a:off x="571175" y="4572000"/>
            <a:ext cx="5712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0"/>
          <p:cNvSpPr/>
          <p:nvPr/>
        </p:nvSpPr>
        <p:spPr>
          <a:xfrm>
            <a:off x="571175" y="0"/>
            <a:ext cx="571200" cy="1902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1" name="Google Shape;391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1732" y="1475807"/>
            <a:ext cx="6321442" cy="894336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0"/>
          <p:cNvSpPr txBox="1"/>
          <p:nvPr/>
        </p:nvSpPr>
        <p:spPr>
          <a:xfrm>
            <a:off x="57465" y="1674712"/>
            <a:ext cx="102741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SQL: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0"/>
          <p:cNvSpPr txBox="1"/>
          <p:nvPr/>
        </p:nvSpPr>
        <p:spPr>
          <a:xfrm>
            <a:off x="994946" y="668709"/>
            <a:ext cx="721410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Найти все статьи из таблицы posts с тегом politics, за которые проголосовало более 10 посетителей</a:t>
            </a:r>
            <a:endParaRPr/>
          </a:p>
        </p:txBody>
      </p:sp>
      <p:sp>
        <p:nvSpPr>
          <p:cNvPr id="394" name="Google Shape;394;p10"/>
          <p:cNvSpPr txBox="1"/>
          <p:nvPr/>
        </p:nvSpPr>
        <p:spPr>
          <a:xfrm>
            <a:off x="2399" y="2913469"/>
            <a:ext cx="120833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Mongo: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5" name="Google Shape;395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41732" y="2930283"/>
            <a:ext cx="7530760" cy="371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1"/>
          <p:cNvSpPr txBox="1">
            <a:spLocks noGrp="1"/>
          </p:cNvSpPr>
          <p:nvPr>
            <p:ph type="ctrTitle"/>
          </p:nvPr>
        </p:nvSpPr>
        <p:spPr>
          <a:xfrm>
            <a:off x="1144800" y="19020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3200">
                <a:solidFill>
                  <a:srgbClr val="4C5D6E"/>
                </a:solidFill>
              </a:rPr>
              <a:t>Что такое MongoDB и почему именно она?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-799801" y="1714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-799801" y="22860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-799801" y="2857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-799801" y="34290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-799801" y="40005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-799801" y="4572009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-799801" y="11430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-799801" y="5715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-799801" y="-12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23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5735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1144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1715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2287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2858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3429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4000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4571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5143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5714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6285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68567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74279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79991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85703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571173" y="4572011"/>
            <a:ext cx="571200" cy="5715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7" name="Google Shape;427;p11" descr="loading-logo.png"/>
          <p:cNvPicPr preferRelativeResize="0"/>
          <p:nvPr/>
        </p:nvPicPr>
        <p:blipFill rotWithShape="1">
          <a:blip r:embed="rId3">
            <a:alphaModFix/>
          </a:blip>
          <a:srcRect l="-19008" t="-14482" r="-19036" b="-14481"/>
          <a:stretch/>
        </p:blipFill>
        <p:spPr>
          <a:xfrm>
            <a:off x="571175" y="4572000"/>
            <a:ext cx="5712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1"/>
          <p:cNvSpPr/>
          <p:nvPr/>
        </p:nvSpPr>
        <p:spPr>
          <a:xfrm>
            <a:off x="571175" y="0"/>
            <a:ext cx="571200" cy="1902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1"/>
          <p:cNvSpPr txBox="1"/>
          <p:nvPr/>
        </p:nvSpPr>
        <p:spPr>
          <a:xfrm>
            <a:off x="1142375" y="1295550"/>
            <a:ext cx="6815700" cy="2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2000"/>
              <a:buFont typeface="Arial"/>
              <a:buChar char="●"/>
            </a:pPr>
            <a:r>
              <a:rPr lang="ru" sz="20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Скорость разработки.</a:t>
            </a:r>
            <a:endParaRPr sz="20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2000"/>
              <a:buFont typeface="Arial"/>
              <a:buChar char="●"/>
            </a:pPr>
            <a:r>
              <a:rPr lang="ru" sz="20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Нет необходимости в поддержке схемы и в коде, и в БД.</a:t>
            </a:r>
            <a:endParaRPr sz="20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2000"/>
              <a:buFont typeface="Arial"/>
              <a:buChar char="●"/>
            </a:pPr>
            <a:r>
              <a:rPr lang="ru" sz="20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Легкая масштабируемость.</a:t>
            </a:r>
            <a:endParaRPr sz="20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2000"/>
              <a:buFont typeface="Arial"/>
              <a:buChar char="●"/>
            </a:pPr>
            <a:r>
              <a:rPr lang="ru" sz="20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Гибкость при смене задачи.</a:t>
            </a:r>
            <a:endParaRPr sz="20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2000"/>
              <a:buFont typeface="Arial"/>
              <a:buChar char="●"/>
            </a:pPr>
            <a:r>
              <a:rPr lang="ru" sz="20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Удобство работы с денормализованными данными.</a:t>
            </a:r>
            <a:endParaRPr sz="20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2"/>
          <p:cNvSpPr txBox="1">
            <a:spLocks noGrp="1"/>
          </p:cNvSpPr>
          <p:nvPr>
            <p:ph type="ctrTitle"/>
          </p:nvPr>
        </p:nvSpPr>
        <p:spPr>
          <a:xfrm>
            <a:off x="1144800" y="19020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3200">
                <a:solidFill>
                  <a:srgbClr val="4C5D6E"/>
                </a:solidFill>
              </a:rPr>
              <a:t>Что такое MongoDB и почему именно она?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-799801" y="1714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-799801" y="22860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-799801" y="2857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-799801" y="34290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-799801" y="40005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-799801" y="4572009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-799801" y="11430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-799801" y="5715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-799801" y="-12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23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5735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1144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1715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2287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2858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3429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4000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4571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5143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5714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6285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68567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74279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79991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85703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571173" y="4572011"/>
            <a:ext cx="571200" cy="5715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1" name="Google Shape;461;p12" descr="loading-logo.png"/>
          <p:cNvPicPr preferRelativeResize="0"/>
          <p:nvPr/>
        </p:nvPicPr>
        <p:blipFill rotWithShape="1">
          <a:blip r:embed="rId3">
            <a:alphaModFix/>
          </a:blip>
          <a:srcRect l="-19008" t="-14482" r="-19036" b="-14481"/>
          <a:stretch/>
        </p:blipFill>
        <p:spPr>
          <a:xfrm>
            <a:off x="571175" y="4572000"/>
            <a:ext cx="5712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2"/>
          <p:cNvSpPr/>
          <p:nvPr/>
        </p:nvSpPr>
        <p:spPr>
          <a:xfrm>
            <a:off x="571175" y="0"/>
            <a:ext cx="571200" cy="1902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2"/>
          <p:cNvSpPr txBox="1"/>
          <p:nvPr/>
        </p:nvSpPr>
        <p:spPr>
          <a:xfrm>
            <a:off x="1142375" y="1295550"/>
            <a:ext cx="6815700" cy="2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55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2000"/>
              <a:buFont typeface="Arial"/>
              <a:buChar char="●"/>
            </a:pPr>
            <a:r>
              <a:rPr lang="ru" sz="20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Данные быстро меняются (дополнительные данные из API, динамический контент в HTML-страницах).</a:t>
            </a:r>
            <a:endParaRPr sz="20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2000"/>
              <a:buFont typeface="Arial"/>
              <a:buChar char="●"/>
            </a:pPr>
            <a:r>
              <a:rPr lang="ru" sz="20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Меняя схему, надо менять и приложение, и БД.</a:t>
            </a:r>
            <a:endParaRPr sz="20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2000"/>
              <a:buFont typeface="Arial"/>
              <a:buChar char="●"/>
            </a:pPr>
            <a:r>
              <a:rPr lang="ru" sz="20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БД нужна лишь до тех пор, пока нужны данные.</a:t>
            </a:r>
            <a:endParaRPr sz="20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2000"/>
              <a:buFont typeface="Arial"/>
              <a:buChar char="●"/>
            </a:pPr>
            <a:r>
              <a:rPr lang="ru" sz="20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Данные постоянно обновляются.</a:t>
            </a:r>
            <a:endParaRPr sz="20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2000"/>
              <a:buFont typeface="Arial"/>
              <a:buChar char="●"/>
            </a:pPr>
            <a:r>
              <a:rPr lang="ru" sz="20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Нормализация не нужна.</a:t>
            </a:r>
            <a:endParaRPr sz="20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2000"/>
              <a:buFont typeface="Arial"/>
              <a:buChar char="●"/>
            </a:pPr>
            <a:r>
              <a:rPr lang="ru" sz="20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Задача не меняется.</a:t>
            </a:r>
            <a:endParaRPr sz="20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2000"/>
              <a:buFont typeface="Arial"/>
              <a:buChar char="●"/>
            </a:pPr>
            <a:r>
              <a:rPr lang="ru" sz="20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Одно приложение.</a:t>
            </a:r>
            <a:endParaRPr sz="20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3"/>
          <p:cNvSpPr txBox="1">
            <a:spLocks noGrp="1"/>
          </p:cNvSpPr>
          <p:nvPr>
            <p:ph type="ctrTitle"/>
          </p:nvPr>
        </p:nvSpPr>
        <p:spPr>
          <a:xfrm>
            <a:off x="1144800" y="19020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3200">
                <a:solidFill>
                  <a:srgbClr val="4C5D6E"/>
                </a:solidFill>
              </a:rPr>
              <a:t>Структура данных MongoDB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469" name="Google Shape;469;p13"/>
          <p:cNvSpPr/>
          <p:nvPr/>
        </p:nvSpPr>
        <p:spPr>
          <a:xfrm>
            <a:off x="-799801" y="1714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3"/>
          <p:cNvSpPr/>
          <p:nvPr/>
        </p:nvSpPr>
        <p:spPr>
          <a:xfrm>
            <a:off x="-799801" y="22860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-799801" y="2857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-799801" y="34290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-799801" y="40005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-799801" y="4572009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-799801" y="11430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-799801" y="5715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-799801" y="-12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23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5735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1144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1715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2287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2858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3429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4000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4571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5143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5714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6285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68567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74279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79991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85703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571173" y="4572011"/>
            <a:ext cx="571200" cy="5715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5" name="Google Shape;495;p13" descr="loading-logo.png"/>
          <p:cNvPicPr preferRelativeResize="0"/>
          <p:nvPr/>
        </p:nvPicPr>
        <p:blipFill rotWithShape="1">
          <a:blip r:embed="rId3">
            <a:alphaModFix/>
          </a:blip>
          <a:srcRect l="-19008" t="-14482" r="-19036" b="-14481"/>
          <a:stretch/>
        </p:blipFill>
        <p:spPr>
          <a:xfrm>
            <a:off x="571175" y="4572000"/>
            <a:ext cx="5712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3"/>
          <p:cNvSpPr/>
          <p:nvPr/>
        </p:nvSpPr>
        <p:spPr>
          <a:xfrm>
            <a:off x="571175" y="0"/>
            <a:ext cx="571200" cy="1902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7" name="Google Shape;497;p13"/>
          <p:cNvGraphicFramePr/>
          <p:nvPr/>
        </p:nvGraphicFramePr>
        <p:xfrm>
          <a:off x="1828799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{D1C5158B-CFA8-4B73-A3B6-FAD4E4842F1B}</a:tableStyleId>
              </a:tblPr>
              <a:tblGrid>
                <a:gridCol w="568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_id: DOC_ID,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sid: 1,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sources: [{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	name: "Source #1 Name",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	description: "Source #1 Description",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	uri: "https://source1.com"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},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{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	name: "Source #3 Name",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	description: "Source #3 Description",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	uri: "https://source1.com",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}],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children: [{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	sid: "2",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	level: 3,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	nest_level: 1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}],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group_name: "Group1",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owner: {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	sid: 1,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	fullname: "Ivanov Ivan",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}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}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4"/>
          <p:cNvSpPr txBox="1">
            <a:spLocks noGrp="1"/>
          </p:cNvSpPr>
          <p:nvPr>
            <p:ph type="ctrTitle"/>
          </p:nvPr>
        </p:nvSpPr>
        <p:spPr>
          <a:xfrm>
            <a:off x="1144800" y="19020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3200">
                <a:solidFill>
                  <a:srgbClr val="4C5D6E"/>
                </a:solidFill>
              </a:rPr>
              <a:t>Структура данных MongoDB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-799801" y="1714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-799801" y="22860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-799801" y="2857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-799801" y="34290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4"/>
          <p:cNvSpPr/>
          <p:nvPr/>
        </p:nvSpPr>
        <p:spPr>
          <a:xfrm>
            <a:off x="-799801" y="40005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4"/>
          <p:cNvSpPr/>
          <p:nvPr/>
        </p:nvSpPr>
        <p:spPr>
          <a:xfrm>
            <a:off x="-799801" y="4572009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-799801" y="11430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-799801" y="5715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-799801" y="-12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23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5735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1144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4"/>
          <p:cNvSpPr/>
          <p:nvPr/>
        </p:nvSpPr>
        <p:spPr>
          <a:xfrm>
            <a:off x="1715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4"/>
          <p:cNvSpPr/>
          <p:nvPr/>
        </p:nvSpPr>
        <p:spPr>
          <a:xfrm>
            <a:off x="2287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2858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3429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4000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4571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5143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5714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6285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68567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74279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79991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85703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571173" y="4572011"/>
            <a:ext cx="571200" cy="5715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9" name="Google Shape;529;p14" descr="loading-logo.png"/>
          <p:cNvPicPr preferRelativeResize="0"/>
          <p:nvPr/>
        </p:nvPicPr>
        <p:blipFill rotWithShape="1">
          <a:blip r:embed="rId3">
            <a:alphaModFix/>
          </a:blip>
          <a:srcRect l="-19008" t="-14482" r="-19036" b="-14481"/>
          <a:stretch/>
        </p:blipFill>
        <p:spPr>
          <a:xfrm>
            <a:off x="571175" y="4572000"/>
            <a:ext cx="5712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14"/>
          <p:cNvSpPr/>
          <p:nvPr/>
        </p:nvSpPr>
        <p:spPr>
          <a:xfrm>
            <a:off x="571175" y="0"/>
            <a:ext cx="571200" cy="1902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31" name="Google Shape;531;p14"/>
          <p:cNvGraphicFramePr/>
          <p:nvPr/>
        </p:nvGraphicFramePr>
        <p:xfrm>
          <a:off x="2433550" y="221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{D1C5158B-CFA8-4B73-A3B6-FAD4E4842F1B}</a:tableStyleId>
              </a:tblPr>
              <a:tblGrid>
                <a:gridCol w="328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53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4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endParaRPr sz="14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4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_id: DOC_ID,</a:t>
                      </a:r>
                      <a:endParaRPr sz="14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4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sid: 1,</a:t>
                      </a:r>
                      <a:endParaRPr sz="14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4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group_name: "Group1",</a:t>
                      </a:r>
                      <a:endParaRPr sz="14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4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owner_id: 1</a:t>
                      </a:r>
                      <a:endParaRPr sz="14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4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}</a:t>
                      </a:r>
                      <a:endParaRPr sz="14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5"/>
          <p:cNvSpPr txBox="1">
            <a:spLocks noGrp="1"/>
          </p:cNvSpPr>
          <p:nvPr>
            <p:ph type="ctrTitle"/>
          </p:nvPr>
        </p:nvSpPr>
        <p:spPr>
          <a:xfrm>
            <a:off x="1144800" y="19020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3200">
                <a:solidFill>
                  <a:srgbClr val="4C5D6E"/>
                </a:solidFill>
              </a:rPr>
              <a:t>Структура данных MongoDB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537" name="Google Shape;537;p15"/>
          <p:cNvSpPr/>
          <p:nvPr/>
        </p:nvSpPr>
        <p:spPr>
          <a:xfrm>
            <a:off x="-799801" y="1714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5"/>
          <p:cNvSpPr/>
          <p:nvPr/>
        </p:nvSpPr>
        <p:spPr>
          <a:xfrm>
            <a:off x="-799801" y="22860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-799801" y="2857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5"/>
          <p:cNvSpPr/>
          <p:nvPr/>
        </p:nvSpPr>
        <p:spPr>
          <a:xfrm>
            <a:off x="-799801" y="34290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5"/>
          <p:cNvSpPr/>
          <p:nvPr/>
        </p:nvSpPr>
        <p:spPr>
          <a:xfrm>
            <a:off x="-799801" y="40005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5"/>
          <p:cNvSpPr/>
          <p:nvPr/>
        </p:nvSpPr>
        <p:spPr>
          <a:xfrm>
            <a:off x="-799801" y="4572009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-799801" y="11430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5"/>
          <p:cNvSpPr/>
          <p:nvPr/>
        </p:nvSpPr>
        <p:spPr>
          <a:xfrm>
            <a:off x="-799801" y="5715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5"/>
          <p:cNvSpPr/>
          <p:nvPr/>
        </p:nvSpPr>
        <p:spPr>
          <a:xfrm>
            <a:off x="-799801" y="-12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23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5735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5"/>
          <p:cNvSpPr/>
          <p:nvPr/>
        </p:nvSpPr>
        <p:spPr>
          <a:xfrm>
            <a:off x="1144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1715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5"/>
          <p:cNvSpPr/>
          <p:nvPr/>
        </p:nvSpPr>
        <p:spPr>
          <a:xfrm>
            <a:off x="2287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5"/>
          <p:cNvSpPr/>
          <p:nvPr/>
        </p:nvSpPr>
        <p:spPr>
          <a:xfrm>
            <a:off x="2858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3429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4000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5"/>
          <p:cNvSpPr/>
          <p:nvPr/>
        </p:nvSpPr>
        <p:spPr>
          <a:xfrm>
            <a:off x="4571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5143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5"/>
          <p:cNvSpPr/>
          <p:nvPr/>
        </p:nvSpPr>
        <p:spPr>
          <a:xfrm>
            <a:off x="5714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6285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5"/>
          <p:cNvSpPr/>
          <p:nvPr/>
        </p:nvSpPr>
        <p:spPr>
          <a:xfrm>
            <a:off x="68567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5"/>
          <p:cNvSpPr/>
          <p:nvPr/>
        </p:nvSpPr>
        <p:spPr>
          <a:xfrm>
            <a:off x="74279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79991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5"/>
          <p:cNvSpPr/>
          <p:nvPr/>
        </p:nvSpPr>
        <p:spPr>
          <a:xfrm>
            <a:off x="85703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5"/>
          <p:cNvSpPr/>
          <p:nvPr/>
        </p:nvSpPr>
        <p:spPr>
          <a:xfrm>
            <a:off x="571173" y="4572011"/>
            <a:ext cx="571200" cy="5715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3" name="Google Shape;563;p15" descr="loading-logo.png"/>
          <p:cNvPicPr preferRelativeResize="0"/>
          <p:nvPr/>
        </p:nvPicPr>
        <p:blipFill rotWithShape="1">
          <a:blip r:embed="rId3">
            <a:alphaModFix/>
          </a:blip>
          <a:srcRect l="-19008" t="-14482" r="-19036" b="-14481"/>
          <a:stretch/>
        </p:blipFill>
        <p:spPr>
          <a:xfrm>
            <a:off x="571175" y="4572000"/>
            <a:ext cx="5712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15"/>
          <p:cNvSpPr/>
          <p:nvPr/>
        </p:nvSpPr>
        <p:spPr>
          <a:xfrm>
            <a:off x="571175" y="0"/>
            <a:ext cx="571200" cy="1902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65" name="Google Shape;565;p15"/>
          <p:cNvGraphicFramePr/>
          <p:nvPr/>
        </p:nvGraphicFramePr>
        <p:xfrm>
          <a:off x="2132862" y="123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{D1C5158B-CFA8-4B73-A3B6-FAD4E4842F1B}</a:tableStyleId>
              </a:tblPr>
              <a:tblGrid>
                <a:gridCol w="515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61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endParaRPr sz="14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_id: SOURCE_ID,</a:t>
                      </a:r>
                      <a:endParaRPr sz="14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doc_id: DOC_ID,</a:t>
                      </a:r>
                      <a:endParaRPr sz="14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name: "Source #1 Name",</a:t>
                      </a:r>
                      <a:endParaRPr sz="14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description: "Source #1 Description",</a:t>
                      </a:r>
                      <a:endParaRPr sz="14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uri: "https://source1.com"</a:t>
                      </a:r>
                      <a:endParaRPr sz="14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},</a:t>
                      </a:r>
                      <a:endParaRPr sz="14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endParaRPr sz="14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_id: SOURCE_ID,</a:t>
                      </a:r>
                      <a:endParaRPr sz="14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doc_id: DOC_ID,</a:t>
                      </a:r>
                      <a:endParaRPr sz="14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name: "Source #3 Name",</a:t>
                      </a:r>
                      <a:endParaRPr sz="14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description: "Source #3 Description",</a:t>
                      </a:r>
                      <a:endParaRPr sz="14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uri: "https://source1.com",</a:t>
                      </a:r>
                      <a:endParaRPr sz="14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" sz="14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}</a:t>
                      </a:r>
                      <a:endParaRPr sz="14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6"/>
          <p:cNvSpPr txBox="1">
            <a:spLocks noGrp="1"/>
          </p:cNvSpPr>
          <p:nvPr>
            <p:ph type="ctrTitle"/>
          </p:nvPr>
        </p:nvSpPr>
        <p:spPr>
          <a:xfrm>
            <a:off x="1144800" y="19020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3200">
                <a:solidFill>
                  <a:srgbClr val="4C5D6E"/>
                </a:solidFill>
              </a:rPr>
              <a:t>Структура данных MongoDB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571" name="Google Shape;571;p16"/>
          <p:cNvSpPr/>
          <p:nvPr/>
        </p:nvSpPr>
        <p:spPr>
          <a:xfrm>
            <a:off x="-799801" y="1714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6"/>
          <p:cNvSpPr/>
          <p:nvPr/>
        </p:nvSpPr>
        <p:spPr>
          <a:xfrm>
            <a:off x="-799801" y="22860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6"/>
          <p:cNvSpPr/>
          <p:nvPr/>
        </p:nvSpPr>
        <p:spPr>
          <a:xfrm>
            <a:off x="-799801" y="2857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6"/>
          <p:cNvSpPr/>
          <p:nvPr/>
        </p:nvSpPr>
        <p:spPr>
          <a:xfrm>
            <a:off x="-799801" y="34290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6"/>
          <p:cNvSpPr/>
          <p:nvPr/>
        </p:nvSpPr>
        <p:spPr>
          <a:xfrm>
            <a:off x="-799801" y="40005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6"/>
          <p:cNvSpPr/>
          <p:nvPr/>
        </p:nvSpPr>
        <p:spPr>
          <a:xfrm>
            <a:off x="-799801" y="4572009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6"/>
          <p:cNvSpPr/>
          <p:nvPr/>
        </p:nvSpPr>
        <p:spPr>
          <a:xfrm>
            <a:off x="-799801" y="11430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6"/>
          <p:cNvSpPr/>
          <p:nvPr/>
        </p:nvSpPr>
        <p:spPr>
          <a:xfrm>
            <a:off x="-799801" y="5715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6"/>
          <p:cNvSpPr/>
          <p:nvPr/>
        </p:nvSpPr>
        <p:spPr>
          <a:xfrm>
            <a:off x="-799801" y="-12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6"/>
          <p:cNvSpPr/>
          <p:nvPr/>
        </p:nvSpPr>
        <p:spPr>
          <a:xfrm>
            <a:off x="23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6"/>
          <p:cNvSpPr/>
          <p:nvPr/>
        </p:nvSpPr>
        <p:spPr>
          <a:xfrm>
            <a:off x="5735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6"/>
          <p:cNvSpPr/>
          <p:nvPr/>
        </p:nvSpPr>
        <p:spPr>
          <a:xfrm>
            <a:off x="1144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6"/>
          <p:cNvSpPr/>
          <p:nvPr/>
        </p:nvSpPr>
        <p:spPr>
          <a:xfrm>
            <a:off x="1715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6"/>
          <p:cNvSpPr/>
          <p:nvPr/>
        </p:nvSpPr>
        <p:spPr>
          <a:xfrm>
            <a:off x="2287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6"/>
          <p:cNvSpPr/>
          <p:nvPr/>
        </p:nvSpPr>
        <p:spPr>
          <a:xfrm>
            <a:off x="2858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6"/>
          <p:cNvSpPr/>
          <p:nvPr/>
        </p:nvSpPr>
        <p:spPr>
          <a:xfrm>
            <a:off x="3429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6"/>
          <p:cNvSpPr/>
          <p:nvPr/>
        </p:nvSpPr>
        <p:spPr>
          <a:xfrm>
            <a:off x="4000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6"/>
          <p:cNvSpPr/>
          <p:nvPr/>
        </p:nvSpPr>
        <p:spPr>
          <a:xfrm>
            <a:off x="4571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6"/>
          <p:cNvSpPr/>
          <p:nvPr/>
        </p:nvSpPr>
        <p:spPr>
          <a:xfrm>
            <a:off x="5143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6"/>
          <p:cNvSpPr/>
          <p:nvPr/>
        </p:nvSpPr>
        <p:spPr>
          <a:xfrm>
            <a:off x="5714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6"/>
          <p:cNvSpPr/>
          <p:nvPr/>
        </p:nvSpPr>
        <p:spPr>
          <a:xfrm>
            <a:off x="6285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6"/>
          <p:cNvSpPr/>
          <p:nvPr/>
        </p:nvSpPr>
        <p:spPr>
          <a:xfrm>
            <a:off x="68567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6"/>
          <p:cNvSpPr/>
          <p:nvPr/>
        </p:nvSpPr>
        <p:spPr>
          <a:xfrm>
            <a:off x="74279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6"/>
          <p:cNvSpPr/>
          <p:nvPr/>
        </p:nvSpPr>
        <p:spPr>
          <a:xfrm>
            <a:off x="79991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85703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6"/>
          <p:cNvSpPr/>
          <p:nvPr/>
        </p:nvSpPr>
        <p:spPr>
          <a:xfrm>
            <a:off x="571173" y="4572011"/>
            <a:ext cx="571200" cy="5715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7" name="Google Shape;597;p16" descr="loading-logo.png"/>
          <p:cNvPicPr preferRelativeResize="0"/>
          <p:nvPr/>
        </p:nvPicPr>
        <p:blipFill rotWithShape="1">
          <a:blip r:embed="rId3">
            <a:alphaModFix/>
          </a:blip>
          <a:srcRect l="-19008" t="-14482" r="-19036" b="-14481"/>
          <a:stretch/>
        </p:blipFill>
        <p:spPr>
          <a:xfrm>
            <a:off x="571175" y="4572000"/>
            <a:ext cx="5712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16"/>
          <p:cNvSpPr/>
          <p:nvPr/>
        </p:nvSpPr>
        <p:spPr>
          <a:xfrm>
            <a:off x="571175" y="0"/>
            <a:ext cx="571200" cy="1902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99" name="Google Shape;599;p16"/>
          <p:cNvGraphicFramePr/>
          <p:nvPr/>
        </p:nvGraphicFramePr>
        <p:xfrm>
          <a:off x="2593613" y="180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{D1C5158B-CFA8-4B73-A3B6-FAD4E4842F1B}</a:tableStyleId>
              </a:tblPr>
              <a:tblGrid>
                <a:gridCol w="409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" sz="18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endParaRPr sz="18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" sz="18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_id: CHILD_ID,</a:t>
                      </a:r>
                      <a:endParaRPr sz="18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" sz="18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doc_id: DOC_ID,</a:t>
                      </a:r>
                      <a:endParaRPr sz="18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" sz="18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sid: "2",</a:t>
                      </a:r>
                      <a:endParaRPr sz="18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" sz="18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level: 3,</a:t>
                      </a:r>
                      <a:endParaRPr sz="18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" sz="18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nest_level: 1</a:t>
                      </a:r>
                      <a:endParaRPr sz="18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" sz="18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}</a:t>
                      </a:r>
                      <a:endParaRPr sz="18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7"/>
          <p:cNvSpPr txBox="1">
            <a:spLocks noGrp="1"/>
          </p:cNvSpPr>
          <p:nvPr>
            <p:ph type="ctrTitle"/>
          </p:nvPr>
        </p:nvSpPr>
        <p:spPr>
          <a:xfrm>
            <a:off x="1144800" y="19020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3200">
                <a:solidFill>
                  <a:srgbClr val="4C5D6E"/>
                </a:solidFill>
              </a:rPr>
              <a:t>Структура данных MongoDB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605" name="Google Shape;605;p17"/>
          <p:cNvSpPr/>
          <p:nvPr/>
        </p:nvSpPr>
        <p:spPr>
          <a:xfrm>
            <a:off x="-799801" y="1714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7"/>
          <p:cNvSpPr/>
          <p:nvPr/>
        </p:nvSpPr>
        <p:spPr>
          <a:xfrm>
            <a:off x="-799801" y="22860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7"/>
          <p:cNvSpPr/>
          <p:nvPr/>
        </p:nvSpPr>
        <p:spPr>
          <a:xfrm>
            <a:off x="-799801" y="2857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7"/>
          <p:cNvSpPr/>
          <p:nvPr/>
        </p:nvSpPr>
        <p:spPr>
          <a:xfrm>
            <a:off x="-799801" y="34290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7"/>
          <p:cNvSpPr/>
          <p:nvPr/>
        </p:nvSpPr>
        <p:spPr>
          <a:xfrm>
            <a:off x="-799801" y="40005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7"/>
          <p:cNvSpPr/>
          <p:nvPr/>
        </p:nvSpPr>
        <p:spPr>
          <a:xfrm>
            <a:off x="-799801" y="4572009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7"/>
          <p:cNvSpPr/>
          <p:nvPr/>
        </p:nvSpPr>
        <p:spPr>
          <a:xfrm>
            <a:off x="-799801" y="11430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7"/>
          <p:cNvSpPr/>
          <p:nvPr/>
        </p:nvSpPr>
        <p:spPr>
          <a:xfrm>
            <a:off x="-799801" y="5715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7"/>
          <p:cNvSpPr/>
          <p:nvPr/>
        </p:nvSpPr>
        <p:spPr>
          <a:xfrm>
            <a:off x="-799801" y="-12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7"/>
          <p:cNvSpPr/>
          <p:nvPr/>
        </p:nvSpPr>
        <p:spPr>
          <a:xfrm>
            <a:off x="23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7"/>
          <p:cNvSpPr/>
          <p:nvPr/>
        </p:nvSpPr>
        <p:spPr>
          <a:xfrm>
            <a:off x="5735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7"/>
          <p:cNvSpPr/>
          <p:nvPr/>
        </p:nvSpPr>
        <p:spPr>
          <a:xfrm>
            <a:off x="1144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7"/>
          <p:cNvSpPr/>
          <p:nvPr/>
        </p:nvSpPr>
        <p:spPr>
          <a:xfrm>
            <a:off x="1715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7"/>
          <p:cNvSpPr/>
          <p:nvPr/>
        </p:nvSpPr>
        <p:spPr>
          <a:xfrm>
            <a:off x="2287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7"/>
          <p:cNvSpPr/>
          <p:nvPr/>
        </p:nvSpPr>
        <p:spPr>
          <a:xfrm>
            <a:off x="2858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7"/>
          <p:cNvSpPr/>
          <p:nvPr/>
        </p:nvSpPr>
        <p:spPr>
          <a:xfrm>
            <a:off x="3429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7"/>
          <p:cNvSpPr/>
          <p:nvPr/>
        </p:nvSpPr>
        <p:spPr>
          <a:xfrm>
            <a:off x="4000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7"/>
          <p:cNvSpPr/>
          <p:nvPr/>
        </p:nvSpPr>
        <p:spPr>
          <a:xfrm>
            <a:off x="4571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17"/>
          <p:cNvSpPr/>
          <p:nvPr/>
        </p:nvSpPr>
        <p:spPr>
          <a:xfrm>
            <a:off x="5143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7"/>
          <p:cNvSpPr/>
          <p:nvPr/>
        </p:nvSpPr>
        <p:spPr>
          <a:xfrm>
            <a:off x="5714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7"/>
          <p:cNvSpPr/>
          <p:nvPr/>
        </p:nvSpPr>
        <p:spPr>
          <a:xfrm>
            <a:off x="6285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7"/>
          <p:cNvSpPr/>
          <p:nvPr/>
        </p:nvSpPr>
        <p:spPr>
          <a:xfrm>
            <a:off x="68567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7"/>
          <p:cNvSpPr/>
          <p:nvPr/>
        </p:nvSpPr>
        <p:spPr>
          <a:xfrm>
            <a:off x="74279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17"/>
          <p:cNvSpPr/>
          <p:nvPr/>
        </p:nvSpPr>
        <p:spPr>
          <a:xfrm>
            <a:off x="79991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7"/>
          <p:cNvSpPr/>
          <p:nvPr/>
        </p:nvSpPr>
        <p:spPr>
          <a:xfrm>
            <a:off x="85703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7"/>
          <p:cNvSpPr/>
          <p:nvPr/>
        </p:nvSpPr>
        <p:spPr>
          <a:xfrm>
            <a:off x="571173" y="4572011"/>
            <a:ext cx="571200" cy="5715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1" name="Google Shape;631;p17" descr="loading-logo.png"/>
          <p:cNvPicPr preferRelativeResize="0"/>
          <p:nvPr/>
        </p:nvPicPr>
        <p:blipFill rotWithShape="1">
          <a:blip r:embed="rId3">
            <a:alphaModFix/>
          </a:blip>
          <a:srcRect l="-19008" t="-14482" r="-19036" b="-14481"/>
          <a:stretch/>
        </p:blipFill>
        <p:spPr>
          <a:xfrm>
            <a:off x="571175" y="4572000"/>
            <a:ext cx="5712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17"/>
          <p:cNvSpPr/>
          <p:nvPr/>
        </p:nvSpPr>
        <p:spPr>
          <a:xfrm>
            <a:off x="571175" y="0"/>
            <a:ext cx="571200" cy="1902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33" name="Google Shape;633;p17"/>
          <p:cNvGraphicFramePr/>
          <p:nvPr/>
        </p:nvGraphicFramePr>
        <p:xfrm>
          <a:off x="2593613" y="180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{D1C5158B-CFA8-4B73-A3B6-FAD4E4842F1B}</a:tableStyleId>
              </a:tblPr>
              <a:tblGrid>
                <a:gridCol w="483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" sz="18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{</a:t>
                      </a:r>
                      <a:endParaRPr sz="18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" sz="18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_id: OWNER_ID,</a:t>
                      </a:r>
                      <a:endParaRPr sz="18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" sz="18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doc_id: DOC_ID,</a:t>
                      </a:r>
                      <a:endParaRPr sz="18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" sz="18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sid: 1,</a:t>
                      </a:r>
                      <a:endParaRPr sz="18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" sz="18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	fullname: "Ivanov Ivan",</a:t>
                      </a:r>
                      <a:endParaRPr sz="18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ru" sz="18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}</a:t>
                      </a:r>
                      <a:endParaRPr sz="18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8"/>
          <p:cNvSpPr txBox="1">
            <a:spLocks noGrp="1"/>
          </p:cNvSpPr>
          <p:nvPr>
            <p:ph type="ctrTitle"/>
          </p:nvPr>
        </p:nvSpPr>
        <p:spPr>
          <a:xfrm>
            <a:off x="1144800" y="19020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3200">
                <a:solidFill>
                  <a:srgbClr val="4C5D6E"/>
                </a:solidFill>
              </a:rPr>
              <a:t>Работа с MongoDB – установка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639" name="Google Shape;639;p18"/>
          <p:cNvSpPr/>
          <p:nvPr/>
        </p:nvSpPr>
        <p:spPr>
          <a:xfrm>
            <a:off x="-799801" y="1714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8"/>
          <p:cNvSpPr/>
          <p:nvPr/>
        </p:nvSpPr>
        <p:spPr>
          <a:xfrm>
            <a:off x="-799801" y="22860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8"/>
          <p:cNvSpPr/>
          <p:nvPr/>
        </p:nvSpPr>
        <p:spPr>
          <a:xfrm>
            <a:off x="-799801" y="2857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8"/>
          <p:cNvSpPr/>
          <p:nvPr/>
        </p:nvSpPr>
        <p:spPr>
          <a:xfrm>
            <a:off x="-799801" y="34290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8"/>
          <p:cNvSpPr/>
          <p:nvPr/>
        </p:nvSpPr>
        <p:spPr>
          <a:xfrm>
            <a:off x="-799801" y="40005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8"/>
          <p:cNvSpPr/>
          <p:nvPr/>
        </p:nvSpPr>
        <p:spPr>
          <a:xfrm>
            <a:off x="-799801" y="4572009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18"/>
          <p:cNvSpPr/>
          <p:nvPr/>
        </p:nvSpPr>
        <p:spPr>
          <a:xfrm>
            <a:off x="-799801" y="11430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8"/>
          <p:cNvSpPr/>
          <p:nvPr/>
        </p:nvSpPr>
        <p:spPr>
          <a:xfrm>
            <a:off x="-799801" y="5715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8"/>
          <p:cNvSpPr/>
          <p:nvPr/>
        </p:nvSpPr>
        <p:spPr>
          <a:xfrm>
            <a:off x="-799801" y="-12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18"/>
          <p:cNvSpPr/>
          <p:nvPr/>
        </p:nvSpPr>
        <p:spPr>
          <a:xfrm>
            <a:off x="23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8"/>
          <p:cNvSpPr/>
          <p:nvPr/>
        </p:nvSpPr>
        <p:spPr>
          <a:xfrm>
            <a:off x="5735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8"/>
          <p:cNvSpPr/>
          <p:nvPr/>
        </p:nvSpPr>
        <p:spPr>
          <a:xfrm>
            <a:off x="1144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8"/>
          <p:cNvSpPr/>
          <p:nvPr/>
        </p:nvSpPr>
        <p:spPr>
          <a:xfrm>
            <a:off x="1715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18"/>
          <p:cNvSpPr/>
          <p:nvPr/>
        </p:nvSpPr>
        <p:spPr>
          <a:xfrm>
            <a:off x="2287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8"/>
          <p:cNvSpPr/>
          <p:nvPr/>
        </p:nvSpPr>
        <p:spPr>
          <a:xfrm>
            <a:off x="2858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8"/>
          <p:cNvSpPr/>
          <p:nvPr/>
        </p:nvSpPr>
        <p:spPr>
          <a:xfrm>
            <a:off x="3429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8"/>
          <p:cNvSpPr/>
          <p:nvPr/>
        </p:nvSpPr>
        <p:spPr>
          <a:xfrm>
            <a:off x="4000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8"/>
          <p:cNvSpPr/>
          <p:nvPr/>
        </p:nvSpPr>
        <p:spPr>
          <a:xfrm>
            <a:off x="4571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8"/>
          <p:cNvSpPr/>
          <p:nvPr/>
        </p:nvSpPr>
        <p:spPr>
          <a:xfrm>
            <a:off x="5143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8"/>
          <p:cNvSpPr/>
          <p:nvPr/>
        </p:nvSpPr>
        <p:spPr>
          <a:xfrm>
            <a:off x="5714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8"/>
          <p:cNvSpPr/>
          <p:nvPr/>
        </p:nvSpPr>
        <p:spPr>
          <a:xfrm>
            <a:off x="6285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8"/>
          <p:cNvSpPr/>
          <p:nvPr/>
        </p:nvSpPr>
        <p:spPr>
          <a:xfrm>
            <a:off x="68567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8"/>
          <p:cNvSpPr/>
          <p:nvPr/>
        </p:nvSpPr>
        <p:spPr>
          <a:xfrm>
            <a:off x="74279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8"/>
          <p:cNvSpPr/>
          <p:nvPr/>
        </p:nvSpPr>
        <p:spPr>
          <a:xfrm>
            <a:off x="79991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8"/>
          <p:cNvSpPr/>
          <p:nvPr/>
        </p:nvSpPr>
        <p:spPr>
          <a:xfrm>
            <a:off x="85703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8"/>
          <p:cNvSpPr/>
          <p:nvPr/>
        </p:nvSpPr>
        <p:spPr>
          <a:xfrm>
            <a:off x="571173" y="4572011"/>
            <a:ext cx="571200" cy="5715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5" name="Google Shape;665;p18" descr="loading-logo.png"/>
          <p:cNvPicPr preferRelativeResize="0"/>
          <p:nvPr/>
        </p:nvPicPr>
        <p:blipFill rotWithShape="1">
          <a:blip r:embed="rId3">
            <a:alphaModFix/>
          </a:blip>
          <a:srcRect l="-19008" t="-14482" r="-19036" b="-14481"/>
          <a:stretch/>
        </p:blipFill>
        <p:spPr>
          <a:xfrm>
            <a:off x="571175" y="4572000"/>
            <a:ext cx="5712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18"/>
          <p:cNvSpPr/>
          <p:nvPr/>
        </p:nvSpPr>
        <p:spPr>
          <a:xfrm>
            <a:off x="571175" y="0"/>
            <a:ext cx="571200" cy="1902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7" name="Google Shape;667;p18"/>
          <p:cNvGraphicFramePr/>
          <p:nvPr/>
        </p:nvGraphicFramePr>
        <p:xfrm>
          <a:off x="1277813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{D1C5158B-CFA8-4B73-A3B6-FAD4E4842F1B}</a:tableStyleId>
              </a:tblPr>
              <a:tblGrid>
                <a:gridCol w="672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31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 sudo apt-key adv --keyserver hkp://keyserver.ubuntu.com:80 --recv EA312927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gpg: Total number processed: 1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gpg:               imported: 1  (RSA: 1)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 echo "deb http://repo.mongodb.org/apt/ubuntu xenial/mongodb-org/3.2 multiverse" | sudo tee /etc/apt/sources.list.d/mongodb-org-3.2.list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 sudo apt-get update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 sudo apt-get install -y mongodb-org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 sudo systemctl start mongod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 sudo systemctl status mongod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● mongodb.service - High-performance, schema-free document-oriented database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Loaded: loaded (/etc/systemd/system/mongodb.service; enabled; vendor preset: enabled)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Active: active (running) since Mon 2016-04-25 14:57:20 EDT; 1min 30s ago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Main PID: 4093 (mongod)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Tasks: 16 (limit: 512)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Memory: 47.1M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CPU: 1.224s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CGroup: /system.slice/mongodb.service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       └─4093 /usr/bin/mongod --quiet --config /etc/mongod.conf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ru" sz="1000" u="none" strike="noStrike" cap="none">
                          <a:solidFill>
                            <a:srgbClr val="2C2D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$ sudo systemctl enable mongod</a:t>
                      </a:r>
                      <a:endParaRPr sz="1000" u="none" strike="noStrike" cap="none">
                        <a:solidFill>
                          <a:srgbClr val="2C2D3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63500" marR="63500" marT="63500" marB="635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9"/>
          <p:cNvSpPr txBox="1">
            <a:spLocks noGrp="1"/>
          </p:cNvSpPr>
          <p:nvPr>
            <p:ph type="ctrTitle"/>
          </p:nvPr>
        </p:nvSpPr>
        <p:spPr>
          <a:xfrm>
            <a:off x="1144800" y="200025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200">
                <a:solidFill>
                  <a:srgbClr val="4C5D6E"/>
                </a:solidFill>
              </a:rPr>
              <a:t>Работа с MongoDB – консоль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673" name="Google Shape;673;p19"/>
          <p:cNvSpPr/>
          <p:nvPr/>
        </p:nvSpPr>
        <p:spPr>
          <a:xfrm>
            <a:off x="-799801" y="1714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9"/>
          <p:cNvSpPr/>
          <p:nvPr/>
        </p:nvSpPr>
        <p:spPr>
          <a:xfrm>
            <a:off x="-799801" y="22860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9"/>
          <p:cNvSpPr/>
          <p:nvPr/>
        </p:nvSpPr>
        <p:spPr>
          <a:xfrm>
            <a:off x="-799801" y="2857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9"/>
          <p:cNvSpPr/>
          <p:nvPr/>
        </p:nvSpPr>
        <p:spPr>
          <a:xfrm>
            <a:off x="-799801" y="34290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19"/>
          <p:cNvSpPr/>
          <p:nvPr/>
        </p:nvSpPr>
        <p:spPr>
          <a:xfrm>
            <a:off x="-799801" y="40005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9"/>
          <p:cNvSpPr/>
          <p:nvPr/>
        </p:nvSpPr>
        <p:spPr>
          <a:xfrm>
            <a:off x="-799801" y="4572009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19"/>
          <p:cNvSpPr/>
          <p:nvPr/>
        </p:nvSpPr>
        <p:spPr>
          <a:xfrm>
            <a:off x="-799801" y="11430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19"/>
          <p:cNvSpPr/>
          <p:nvPr/>
        </p:nvSpPr>
        <p:spPr>
          <a:xfrm>
            <a:off x="-799801" y="5715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9"/>
          <p:cNvSpPr/>
          <p:nvPr/>
        </p:nvSpPr>
        <p:spPr>
          <a:xfrm>
            <a:off x="-799801" y="-12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19"/>
          <p:cNvSpPr/>
          <p:nvPr/>
        </p:nvSpPr>
        <p:spPr>
          <a:xfrm>
            <a:off x="23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9"/>
          <p:cNvSpPr/>
          <p:nvPr/>
        </p:nvSpPr>
        <p:spPr>
          <a:xfrm>
            <a:off x="5735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19"/>
          <p:cNvSpPr/>
          <p:nvPr/>
        </p:nvSpPr>
        <p:spPr>
          <a:xfrm>
            <a:off x="1144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19"/>
          <p:cNvSpPr/>
          <p:nvPr/>
        </p:nvSpPr>
        <p:spPr>
          <a:xfrm>
            <a:off x="1715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19"/>
          <p:cNvSpPr/>
          <p:nvPr/>
        </p:nvSpPr>
        <p:spPr>
          <a:xfrm>
            <a:off x="2287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9"/>
          <p:cNvSpPr/>
          <p:nvPr/>
        </p:nvSpPr>
        <p:spPr>
          <a:xfrm>
            <a:off x="2858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9"/>
          <p:cNvSpPr/>
          <p:nvPr/>
        </p:nvSpPr>
        <p:spPr>
          <a:xfrm>
            <a:off x="3429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9"/>
          <p:cNvSpPr/>
          <p:nvPr/>
        </p:nvSpPr>
        <p:spPr>
          <a:xfrm>
            <a:off x="4000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9"/>
          <p:cNvSpPr/>
          <p:nvPr/>
        </p:nvSpPr>
        <p:spPr>
          <a:xfrm>
            <a:off x="4571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9"/>
          <p:cNvSpPr/>
          <p:nvPr/>
        </p:nvSpPr>
        <p:spPr>
          <a:xfrm>
            <a:off x="5143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9"/>
          <p:cNvSpPr/>
          <p:nvPr/>
        </p:nvSpPr>
        <p:spPr>
          <a:xfrm>
            <a:off x="5714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9"/>
          <p:cNvSpPr/>
          <p:nvPr/>
        </p:nvSpPr>
        <p:spPr>
          <a:xfrm>
            <a:off x="6285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9"/>
          <p:cNvSpPr/>
          <p:nvPr/>
        </p:nvSpPr>
        <p:spPr>
          <a:xfrm>
            <a:off x="68567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9"/>
          <p:cNvSpPr/>
          <p:nvPr/>
        </p:nvSpPr>
        <p:spPr>
          <a:xfrm>
            <a:off x="74279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9"/>
          <p:cNvSpPr/>
          <p:nvPr/>
        </p:nvSpPr>
        <p:spPr>
          <a:xfrm>
            <a:off x="79991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9"/>
          <p:cNvSpPr/>
          <p:nvPr/>
        </p:nvSpPr>
        <p:spPr>
          <a:xfrm>
            <a:off x="85703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9"/>
          <p:cNvSpPr/>
          <p:nvPr/>
        </p:nvSpPr>
        <p:spPr>
          <a:xfrm>
            <a:off x="571173" y="4572011"/>
            <a:ext cx="571200" cy="5715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9" name="Google Shape;699;p19" descr="loading-logo.png"/>
          <p:cNvPicPr preferRelativeResize="0"/>
          <p:nvPr/>
        </p:nvPicPr>
        <p:blipFill rotWithShape="1">
          <a:blip r:embed="rId3">
            <a:alphaModFix/>
          </a:blip>
          <a:srcRect l="-19008" t="-14482" r="-19036" b="-14481"/>
          <a:stretch/>
        </p:blipFill>
        <p:spPr>
          <a:xfrm>
            <a:off x="571175" y="4572000"/>
            <a:ext cx="5712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19"/>
          <p:cNvSpPr/>
          <p:nvPr/>
        </p:nvSpPr>
        <p:spPr>
          <a:xfrm>
            <a:off x="571175" y="0"/>
            <a:ext cx="571200" cy="1902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0"/>
          <p:cNvSpPr txBox="1">
            <a:spLocks noGrp="1"/>
          </p:cNvSpPr>
          <p:nvPr>
            <p:ph type="ctrTitle"/>
          </p:nvPr>
        </p:nvSpPr>
        <p:spPr>
          <a:xfrm>
            <a:off x="1144800" y="57150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3200">
                <a:solidFill>
                  <a:srgbClr val="4C5D6E"/>
                </a:solidFill>
              </a:rPr>
              <a:t>Работа с MongoDB – Python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706" name="Google Shape;706;p20"/>
          <p:cNvSpPr/>
          <p:nvPr/>
        </p:nvSpPr>
        <p:spPr>
          <a:xfrm>
            <a:off x="-799801" y="1714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0"/>
          <p:cNvSpPr/>
          <p:nvPr/>
        </p:nvSpPr>
        <p:spPr>
          <a:xfrm>
            <a:off x="-799801" y="22860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20"/>
          <p:cNvSpPr/>
          <p:nvPr/>
        </p:nvSpPr>
        <p:spPr>
          <a:xfrm>
            <a:off x="-799801" y="2857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20"/>
          <p:cNvSpPr/>
          <p:nvPr/>
        </p:nvSpPr>
        <p:spPr>
          <a:xfrm>
            <a:off x="-799801" y="34290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20"/>
          <p:cNvSpPr/>
          <p:nvPr/>
        </p:nvSpPr>
        <p:spPr>
          <a:xfrm>
            <a:off x="-799801" y="40005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20"/>
          <p:cNvSpPr/>
          <p:nvPr/>
        </p:nvSpPr>
        <p:spPr>
          <a:xfrm>
            <a:off x="-799801" y="4572009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20"/>
          <p:cNvSpPr/>
          <p:nvPr/>
        </p:nvSpPr>
        <p:spPr>
          <a:xfrm>
            <a:off x="-799801" y="11430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20"/>
          <p:cNvSpPr/>
          <p:nvPr/>
        </p:nvSpPr>
        <p:spPr>
          <a:xfrm>
            <a:off x="-799801" y="5715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20"/>
          <p:cNvSpPr/>
          <p:nvPr/>
        </p:nvSpPr>
        <p:spPr>
          <a:xfrm>
            <a:off x="-799801" y="-12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0"/>
          <p:cNvSpPr/>
          <p:nvPr/>
        </p:nvSpPr>
        <p:spPr>
          <a:xfrm>
            <a:off x="23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20"/>
          <p:cNvSpPr/>
          <p:nvPr/>
        </p:nvSpPr>
        <p:spPr>
          <a:xfrm>
            <a:off x="5735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20"/>
          <p:cNvSpPr/>
          <p:nvPr/>
        </p:nvSpPr>
        <p:spPr>
          <a:xfrm>
            <a:off x="1144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20"/>
          <p:cNvSpPr/>
          <p:nvPr/>
        </p:nvSpPr>
        <p:spPr>
          <a:xfrm>
            <a:off x="1715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20"/>
          <p:cNvSpPr/>
          <p:nvPr/>
        </p:nvSpPr>
        <p:spPr>
          <a:xfrm>
            <a:off x="2287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20"/>
          <p:cNvSpPr/>
          <p:nvPr/>
        </p:nvSpPr>
        <p:spPr>
          <a:xfrm>
            <a:off x="2858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20"/>
          <p:cNvSpPr/>
          <p:nvPr/>
        </p:nvSpPr>
        <p:spPr>
          <a:xfrm>
            <a:off x="3429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20"/>
          <p:cNvSpPr/>
          <p:nvPr/>
        </p:nvSpPr>
        <p:spPr>
          <a:xfrm>
            <a:off x="4000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20"/>
          <p:cNvSpPr/>
          <p:nvPr/>
        </p:nvSpPr>
        <p:spPr>
          <a:xfrm>
            <a:off x="4571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20"/>
          <p:cNvSpPr/>
          <p:nvPr/>
        </p:nvSpPr>
        <p:spPr>
          <a:xfrm>
            <a:off x="5143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20"/>
          <p:cNvSpPr/>
          <p:nvPr/>
        </p:nvSpPr>
        <p:spPr>
          <a:xfrm>
            <a:off x="5714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20"/>
          <p:cNvSpPr/>
          <p:nvPr/>
        </p:nvSpPr>
        <p:spPr>
          <a:xfrm>
            <a:off x="6285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0"/>
          <p:cNvSpPr/>
          <p:nvPr/>
        </p:nvSpPr>
        <p:spPr>
          <a:xfrm>
            <a:off x="68567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20"/>
          <p:cNvSpPr/>
          <p:nvPr/>
        </p:nvSpPr>
        <p:spPr>
          <a:xfrm>
            <a:off x="74279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20"/>
          <p:cNvSpPr/>
          <p:nvPr/>
        </p:nvSpPr>
        <p:spPr>
          <a:xfrm>
            <a:off x="79991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20"/>
          <p:cNvSpPr/>
          <p:nvPr/>
        </p:nvSpPr>
        <p:spPr>
          <a:xfrm>
            <a:off x="85703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20"/>
          <p:cNvSpPr/>
          <p:nvPr/>
        </p:nvSpPr>
        <p:spPr>
          <a:xfrm>
            <a:off x="571173" y="4572011"/>
            <a:ext cx="571200" cy="5715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2" name="Google Shape;732;p20" descr="loading-logo.png"/>
          <p:cNvPicPr preferRelativeResize="0"/>
          <p:nvPr/>
        </p:nvPicPr>
        <p:blipFill rotWithShape="1">
          <a:blip r:embed="rId3">
            <a:alphaModFix/>
          </a:blip>
          <a:srcRect l="-19008" t="-14482" r="-19036" b="-14481"/>
          <a:stretch/>
        </p:blipFill>
        <p:spPr>
          <a:xfrm>
            <a:off x="571175" y="4572000"/>
            <a:ext cx="5712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20"/>
          <p:cNvSpPr/>
          <p:nvPr/>
        </p:nvSpPr>
        <p:spPr>
          <a:xfrm>
            <a:off x="571175" y="0"/>
            <a:ext cx="571200" cy="1902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0"/>
          <p:cNvSpPr txBox="1"/>
          <p:nvPr/>
        </p:nvSpPr>
        <p:spPr>
          <a:xfrm>
            <a:off x="1140350" y="1889925"/>
            <a:ext cx="6858900" cy="23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C2D30"/>
              </a:buClr>
              <a:buSzPts val="2400"/>
              <a:buFont typeface="Arial"/>
              <a:buChar char="●"/>
            </a:pPr>
            <a:r>
              <a:rPr lang="ru" sz="24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Python версии 3.6.2;</a:t>
            </a:r>
            <a:endParaRPr sz="24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2400"/>
              <a:buFont typeface="Arial"/>
              <a:buChar char="●"/>
            </a:pPr>
            <a:r>
              <a:rPr lang="ru" sz="24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операционная система x86-x64 семейства UNIX;</a:t>
            </a:r>
            <a:endParaRPr sz="2400" b="0" i="0" u="none" strike="noStrike" cap="none">
              <a:solidFill>
                <a:srgbClr val="2C2D3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2400"/>
              <a:buFont typeface="Arial"/>
              <a:buChar char="●"/>
            </a:pPr>
            <a:r>
              <a:rPr lang="ru" sz="2400" b="0" i="0" u="none" strike="noStrike" cap="none">
                <a:solidFill>
                  <a:srgbClr val="2C2D30"/>
                </a:solidFill>
                <a:latin typeface="Arial"/>
                <a:ea typeface="Arial"/>
                <a:cs typeface="Arial"/>
                <a:sym typeface="Arial"/>
              </a:rPr>
              <a:t>MongoDB версии 3.4.16.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21"/>
          <p:cNvSpPr txBox="1">
            <a:spLocks noGrp="1"/>
          </p:cNvSpPr>
          <p:nvPr>
            <p:ph type="ctrTitle"/>
          </p:nvPr>
        </p:nvSpPr>
        <p:spPr>
          <a:xfrm>
            <a:off x="1142400" y="571500"/>
            <a:ext cx="685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3200">
                <a:solidFill>
                  <a:srgbClr val="4C5D6E"/>
                </a:solidFill>
              </a:rPr>
              <a:t>Домашнее задание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740" name="Google Shape;740;p21"/>
          <p:cNvSpPr/>
          <p:nvPr/>
        </p:nvSpPr>
        <p:spPr>
          <a:xfrm>
            <a:off x="-799801" y="1714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21"/>
          <p:cNvSpPr/>
          <p:nvPr/>
        </p:nvSpPr>
        <p:spPr>
          <a:xfrm>
            <a:off x="-799801" y="22860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1"/>
          <p:cNvSpPr/>
          <p:nvPr/>
        </p:nvSpPr>
        <p:spPr>
          <a:xfrm>
            <a:off x="-799801" y="2857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21"/>
          <p:cNvSpPr/>
          <p:nvPr/>
        </p:nvSpPr>
        <p:spPr>
          <a:xfrm>
            <a:off x="-799801" y="34290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1"/>
          <p:cNvSpPr/>
          <p:nvPr/>
        </p:nvSpPr>
        <p:spPr>
          <a:xfrm>
            <a:off x="-799801" y="40005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1"/>
          <p:cNvSpPr/>
          <p:nvPr/>
        </p:nvSpPr>
        <p:spPr>
          <a:xfrm>
            <a:off x="-799801" y="4572009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1"/>
          <p:cNvSpPr/>
          <p:nvPr/>
        </p:nvSpPr>
        <p:spPr>
          <a:xfrm>
            <a:off x="-799801" y="11430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1"/>
          <p:cNvSpPr/>
          <p:nvPr/>
        </p:nvSpPr>
        <p:spPr>
          <a:xfrm>
            <a:off x="-799801" y="5715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1"/>
          <p:cNvSpPr/>
          <p:nvPr/>
        </p:nvSpPr>
        <p:spPr>
          <a:xfrm>
            <a:off x="-799801" y="-12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1"/>
          <p:cNvSpPr/>
          <p:nvPr/>
        </p:nvSpPr>
        <p:spPr>
          <a:xfrm>
            <a:off x="23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1"/>
          <p:cNvSpPr/>
          <p:nvPr/>
        </p:nvSpPr>
        <p:spPr>
          <a:xfrm>
            <a:off x="5735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21"/>
          <p:cNvSpPr/>
          <p:nvPr/>
        </p:nvSpPr>
        <p:spPr>
          <a:xfrm>
            <a:off x="1144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1"/>
          <p:cNvSpPr/>
          <p:nvPr/>
        </p:nvSpPr>
        <p:spPr>
          <a:xfrm>
            <a:off x="1715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1"/>
          <p:cNvSpPr/>
          <p:nvPr/>
        </p:nvSpPr>
        <p:spPr>
          <a:xfrm>
            <a:off x="2287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1"/>
          <p:cNvSpPr/>
          <p:nvPr/>
        </p:nvSpPr>
        <p:spPr>
          <a:xfrm>
            <a:off x="2858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1"/>
          <p:cNvSpPr/>
          <p:nvPr/>
        </p:nvSpPr>
        <p:spPr>
          <a:xfrm>
            <a:off x="3429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1"/>
          <p:cNvSpPr/>
          <p:nvPr/>
        </p:nvSpPr>
        <p:spPr>
          <a:xfrm>
            <a:off x="4000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1"/>
          <p:cNvSpPr/>
          <p:nvPr/>
        </p:nvSpPr>
        <p:spPr>
          <a:xfrm>
            <a:off x="4571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1"/>
          <p:cNvSpPr/>
          <p:nvPr/>
        </p:nvSpPr>
        <p:spPr>
          <a:xfrm>
            <a:off x="5143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21"/>
          <p:cNvSpPr/>
          <p:nvPr/>
        </p:nvSpPr>
        <p:spPr>
          <a:xfrm>
            <a:off x="5714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1"/>
          <p:cNvSpPr/>
          <p:nvPr/>
        </p:nvSpPr>
        <p:spPr>
          <a:xfrm>
            <a:off x="6285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1"/>
          <p:cNvSpPr/>
          <p:nvPr/>
        </p:nvSpPr>
        <p:spPr>
          <a:xfrm>
            <a:off x="68567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1"/>
          <p:cNvSpPr/>
          <p:nvPr/>
        </p:nvSpPr>
        <p:spPr>
          <a:xfrm>
            <a:off x="74279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21"/>
          <p:cNvSpPr/>
          <p:nvPr/>
        </p:nvSpPr>
        <p:spPr>
          <a:xfrm>
            <a:off x="79991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1"/>
          <p:cNvSpPr/>
          <p:nvPr/>
        </p:nvSpPr>
        <p:spPr>
          <a:xfrm>
            <a:off x="85703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21"/>
          <p:cNvSpPr txBox="1">
            <a:spLocks noGrp="1"/>
          </p:cNvSpPr>
          <p:nvPr>
            <p:ph type="ctrTitle"/>
          </p:nvPr>
        </p:nvSpPr>
        <p:spPr>
          <a:xfrm>
            <a:off x="1142375" y="1714450"/>
            <a:ext cx="68544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C2D30"/>
              </a:buClr>
              <a:buSzPts val="1800"/>
              <a:buFont typeface="Arial"/>
              <a:buChar char="●"/>
            </a:pPr>
            <a:r>
              <a:rPr lang="ru" sz="1800">
                <a:solidFill>
                  <a:srgbClr val="2C2D30"/>
                </a:solidFill>
              </a:rPr>
              <a:t>Развернуть у себя на компьютере/виртуальной машине/хостинге MongoDB и реализовать функцию, записывающую собранные вакансии в созданную БД</a:t>
            </a:r>
            <a:endParaRPr sz="1800">
              <a:solidFill>
                <a:srgbClr val="2C2D3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C2D30"/>
              </a:buClr>
              <a:buSzPts val="1800"/>
              <a:buChar char="●"/>
            </a:pPr>
            <a:r>
              <a:rPr lang="ru" sz="1800">
                <a:solidFill>
                  <a:srgbClr val="2C2D30"/>
                </a:solidFill>
              </a:rPr>
              <a:t>Написать функцию, которая производит поиск и выводит на экран вакансии с заработной платой больше введенной суммы. Поиск должен быть по 2-ум полям(мин. и макс.)</a:t>
            </a:r>
            <a:endParaRPr sz="1800">
              <a:solidFill>
                <a:srgbClr val="2C2D3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Clr>
                <a:srgbClr val="2C2D30"/>
              </a:buClr>
              <a:buSzPts val="1800"/>
              <a:buChar char="●"/>
            </a:pPr>
            <a:r>
              <a:rPr lang="ru" sz="1800">
                <a:solidFill>
                  <a:srgbClr val="2C2D30"/>
                </a:solidFill>
              </a:rPr>
              <a:t>Написать функцию, которая будет добавлять в вашу базу данных только новые вакансии с сайта</a:t>
            </a:r>
            <a:endParaRPr sz="1800">
              <a:solidFill>
                <a:srgbClr val="2C2D30"/>
              </a:solidFill>
            </a:endParaRPr>
          </a:p>
        </p:txBody>
      </p:sp>
      <p:sp>
        <p:nvSpPr>
          <p:cNvPr id="766" name="Google Shape;766;p21"/>
          <p:cNvSpPr/>
          <p:nvPr/>
        </p:nvSpPr>
        <p:spPr>
          <a:xfrm>
            <a:off x="571173" y="4572011"/>
            <a:ext cx="571200" cy="5715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7" name="Google Shape;767;p21" descr="loading-logo.png"/>
          <p:cNvPicPr preferRelativeResize="0"/>
          <p:nvPr/>
        </p:nvPicPr>
        <p:blipFill rotWithShape="1">
          <a:blip r:embed="rId3">
            <a:alphaModFix/>
          </a:blip>
          <a:srcRect l="-19008" t="-14482" r="-19036" b="-14481"/>
          <a:stretch/>
        </p:blipFill>
        <p:spPr>
          <a:xfrm>
            <a:off x="571175" y="4572000"/>
            <a:ext cx="5712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21"/>
          <p:cNvSpPr/>
          <p:nvPr/>
        </p:nvSpPr>
        <p:spPr>
          <a:xfrm>
            <a:off x="571175" y="0"/>
            <a:ext cx="571200" cy="1902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22"/>
          <p:cNvSpPr txBox="1">
            <a:spLocks noGrp="1"/>
          </p:cNvSpPr>
          <p:nvPr>
            <p:ph type="ctrTitle"/>
          </p:nvPr>
        </p:nvSpPr>
        <p:spPr>
          <a:xfrm>
            <a:off x="1142400" y="571500"/>
            <a:ext cx="6856800" cy="4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3200">
                <a:solidFill>
                  <a:srgbClr val="4C5D6E"/>
                </a:solidFill>
              </a:rPr>
              <a:t>Ваши вопросы?</a:t>
            </a:r>
            <a:endParaRPr sz="3200">
              <a:solidFill>
                <a:srgbClr val="4C5D6E"/>
              </a:solidFill>
            </a:endParaRPr>
          </a:p>
        </p:txBody>
      </p:sp>
      <p:sp>
        <p:nvSpPr>
          <p:cNvPr id="774" name="Google Shape;774;p22"/>
          <p:cNvSpPr/>
          <p:nvPr/>
        </p:nvSpPr>
        <p:spPr>
          <a:xfrm>
            <a:off x="-799801" y="1714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2"/>
          <p:cNvSpPr/>
          <p:nvPr/>
        </p:nvSpPr>
        <p:spPr>
          <a:xfrm>
            <a:off x="-799801" y="22860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22"/>
          <p:cNvSpPr/>
          <p:nvPr/>
        </p:nvSpPr>
        <p:spPr>
          <a:xfrm>
            <a:off x="-799801" y="2857510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2"/>
          <p:cNvSpPr/>
          <p:nvPr/>
        </p:nvSpPr>
        <p:spPr>
          <a:xfrm>
            <a:off x="-799801" y="34290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2"/>
          <p:cNvSpPr/>
          <p:nvPr/>
        </p:nvSpPr>
        <p:spPr>
          <a:xfrm>
            <a:off x="-799801" y="4000509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2"/>
          <p:cNvSpPr/>
          <p:nvPr/>
        </p:nvSpPr>
        <p:spPr>
          <a:xfrm>
            <a:off x="-799801" y="4572009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22"/>
          <p:cNvSpPr/>
          <p:nvPr/>
        </p:nvSpPr>
        <p:spPr>
          <a:xfrm>
            <a:off x="-799801" y="11430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22"/>
          <p:cNvSpPr/>
          <p:nvPr/>
        </p:nvSpPr>
        <p:spPr>
          <a:xfrm>
            <a:off x="-799801" y="571511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22"/>
          <p:cNvSpPr/>
          <p:nvPr/>
        </p:nvSpPr>
        <p:spPr>
          <a:xfrm>
            <a:off x="-799801" y="-12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22"/>
          <p:cNvSpPr/>
          <p:nvPr/>
        </p:nvSpPr>
        <p:spPr>
          <a:xfrm>
            <a:off x="23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22"/>
          <p:cNvSpPr/>
          <p:nvPr/>
        </p:nvSpPr>
        <p:spPr>
          <a:xfrm>
            <a:off x="573599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2"/>
          <p:cNvSpPr/>
          <p:nvPr/>
        </p:nvSpPr>
        <p:spPr>
          <a:xfrm>
            <a:off x="1144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22"/>
          <p:cNvSpPr/>
          <p:nvPr/>
        </p:nvSpPr>
        <p:spPr>
          <a:xfrm>
            <a:off x="1715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2"/>
          <p:cNvSpPr/>
          <p:nvPr/>
        </p:nvSpPr>
        <p:spPr>
          <a:xfrm>
            <a:off x="2287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22"/>
          <p:cNvSpPr/>
          <p:nvPr/>
        </p:nvSpPr>
        <p:spPr>
          <a:xfrm>
            <a:off x="2858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22"/>
          <p:cNvSpPr/>
          <p:nvPr/>
        </p:nvSpPr>
        <p:spPr>
          <a:xfrm>
            <a:off x="3429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2"/>
          <p:cNvSpPr/>
          <p:nvPr/>
        </p:nvSpPr>
        <p:spPr>
          <a:xfrm>
            <a:off x="40007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22"/>
          <p:cNvSpPr/>
          <p:nvPr/>
        </p:nvSpPr>
        <p:spPr>
          <a:xfrm>
            <a:off x="45719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22"/>
          <p:cNvSpPr/>
          <p:nvPr/>
        </p:nvSpPr>
        <p:spPr>
          <a:xfrm>
            <a:off x="51431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22"/>
          <p:cNvSpPr/>
          <p:nvPr/>
        </p:nvSpPr>
        <p:spPr>
          <a:xfrm>
            <a:off x="57143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22"/>
          <p:cNvSpPr/>
          <p:nvPr/>
        </p:nvSpPr>
        <p:spPr>
          <a:xfrm>
            <a:off x="6285599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22"/>
          <p:cNvSpPr/>
          <p:nvPr/>
        </p:nvSpPr>
        <p:spPr>
          <a:xfrm>
            <a:off x="68567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22"/>
          <p:cNvSpPr/>
          <p:nvPr/>
        </p:nvSpPr>
        <p:spPr>
          <a:xfrm>
            <a:off x="7427998" y="-800175"/>
            <a:ext cx="571200" cy="571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22"/>
          <p:cNvSpPr/>
          <p:nvPr/>
        </p:nvSpPr>
        <p:spPr>
          <a:xfrm>
            <a:off x="79991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22"/>
          <p:cNvSpPr/>
          <p:nvPr/>
        </p:nvSpPr>
        <p:spPr>
          <a:xfrm>
            <a:off x="8570398" y="-800175"/>
            <a:ext cx="571200" cy="57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BDC2C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22"/>
          <p:cNvSpPr/>
          <p:nvPr/>
        </p:nvSpPr>
        <p:spPr>
          <a:xfrm>
            <a:off x="571173" y="4572011"/>
            <a:ext cx="571200" cy="5715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0" name="Google Shape;800;p22" descr="loading-logo.png"/>
          <p:cNvPicPr preferRelativeResize="0"/>
          <p:nvPr/>
        </p:nvPicPr>
        <p:blipFill rotWithShape="1">
          <a:blip r:embed="rId3">
            <a:alphaModFix/>
          </a:blip>
          <a:srcRect l="-19008" t="-14482" r="-19036" b="-14481"/>
          <a:stretch/>
        </p:blipFill>
        <p:spPr>
          <a:xfrm>
            <a:off x="571175" y="4572000"/>
            <a:ext cx="5712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22"/>
          <p:cNvSpPr/>
          <p:nvPr/>
        </p:nvSpPr>
        <p:spPr>
          <a:xfrm>
            <a:off x="571175" y="0"/>
            <a:ext cx="571200" cy="190200"/>
          </a:xfrm>
          <a:prstGeom prst="rect">
            <a:avLst/>
          </a:prstGeom>
          <a:solidFill>
            <a:srgbClr val="E9ED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908</Words>
  <Application>Microsoft Office PowerPoint</Application>
  <PresentationFormat>Экран (16:9)</PresentationFormat>
  <Paragraphs>163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5" baseType="lpstr">
      <vt:lpstr>Arial</vt:lpstr>
      <vt:lpstr>Courier New</vt:lpstr>
      <vt:lpstr>Simple Light</vt:lpstr>
      <vt:lpstr>СУБД MongoDB</vt:lpstr>
      <vt:lpstr>План урока</vt:lpstr>
      <vt:lpstr>SQL и NoSQL</vt:lpstr>
      <vt:lpstr>SQL</vt:lpstr>
      <vt:lpstr>SQL</vt:lpstr>
      <vt:lpstr>SQL</vt:lpstr>
      <vt:lpstr>NoSQL</vt:lpstr>
      <vt:lpstr>NoSQL</vt:lpstr>
      <vt:lpstr>SQL</vt:lpstr>
      <vt:lpstr>Примеры запросов</vt:lpstr>
      <vt:lpstr>Что такое MongoDB и почему именно она?</vt:lpstr>
      <vt:lpstr>Что такое MongoDB и почему именно она?</vt:lpstr>
      <vt:lpstr>Структура данных MongoDB</vt:lpstr>
      <vt:lpstr>Структура данных MongoDB</vt:lpstr>
      <vt:lpstr>Структура данных MongoDB</vt:lpstr>
      <vt:lpstr>Структура данных MongoDB</vt:lpstr>
      <vt:lpstr>Структура данных MongoDB</vt:lpstr>
      <vt:lpstr>Работа с MongoDB – установка</vt:lpstr>
      <vt:lpstr>Работа с MongoDB – консоль</vt:lpstr>
      <vt:lpstr>Работа с MongoDB – Python</vt:lpstr>
      <vt:lpstr>Домашнее задание</vt:lpstr>
      <vt:lpstr>Ваши вопросы?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Ирина</cp:lastModifiedBy>
  <cp:revision>1</cp:revision>
  <dcterms:modified xsi:type="dcterms:W3CDTF">2024-10-18T07:10:51Z</dcterms:modified>
</cp:coreProperties>
</file>